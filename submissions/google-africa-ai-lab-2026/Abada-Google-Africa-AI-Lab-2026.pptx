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2e0005f07047ab" /><Relationship Type="http://schemas.openxmlformats.org/officeDocument/2006/relationships/extended-properties" Target="/docProps/app.xml" Id="R8b88cf876db34233" /><Relationship Type="http://schemas.openxmlformats.org/officeDocument/2006/relationships/officeDocument" Target="/ppt/presentation.xml" Id="Ra431a4620e8e47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b5816d8e34ddc"/>
  </p:sldMasterIdLst>
  <p:notesMasterIdLst>
    <p:notesMasterId xmlns:r="http://schemas.openxmlformats.org/officeDocument/2006/relationships" r:id="Rc1c133f623254bb7"/>
  </p:notesMasterIdLst>
  <p:sldIdLst>
    <p:sldId xmlns:r="http://schemas.openxmlformats.org/officeDocument/2006/relationships" id="256" r:id="R230c88cf3d2b4aa8"/>
    <p:sldId xmlns:r="http://schemas.openxmlformats.org/officeDocument/2006/relationships" id="257" r:id="R824936cc3a0c4a2e"/>
    <p:sldId xmlns:r="http://schemas.openxmlformats.org/officeDocument/2006/relationships" id="258" r:id="R1d16ef66e2de4f68"/>
    <p:sldId xmlns:r="http://schemas.openxmlformats.org/officeDocument/2006/relationships" id="259" r:id="Rd83b73016b9b4ab7"/>
    <p:sldId xmlns:r="http://schemas.openxmlformats.org/officeDocument/2006/relationships" id="260" r:id="R0e2b52f4149c4ef7"/>
    <p:sldId xmlns:r="http://schemas.openxmlformats.org/officeDocument/2006/relationships" id="261" r:id="R08373d40db3941bd"/>
    <p:sldId xmlns:r="http://schemas.openxmlformats.org/officeDocument/2006/relationships" id="262" r:id="R2a27f4f209094b73"/>
    <p:sldId xmlns:r="http://schemas.openxmlformats.org/officeDocument/2006/relationships" id="263" r:id="R0566114fb0694b00"/>
    <p:sldId xmlns:r="http://schemas.openxmlformats.org/officeDocument/2006/relationships" id="264" r:id="Rb71c8a28a5fd4ba8"/>
    <p:sldId xmlns:r="http://schemas.openxmlformats.org/officeDocument/2006/relationships" id="265" r:id="Rb8614f53068b40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636c25d10c4e58" /><Relationship Type="http://schemas.openxmlformats.org/officeDocument/2006/relationships/slideMaster" Target="/ppt/slideMasters/slideMaster1.xml" Id="R730b5816d8e34ddc" /><Relationship Type="http://schemas.openxmlformats.org/officeDocument/2006/relationships/notesMaster" Target="/ppt/notesMasters/notesMaster1.xml" Id="Rc1c133f623254bb7" /><Relationship Type="http://schemas.openxmlformats.org/officeDocument/2006/relationships/presProps" Target="/ppt/presProps.xml" Id="R00d3277e4323488b" /><Relationship Type="http://schemas.openxmlformats.org/officeDocument/2006/relationships/tableStyles" Target="/ppt/tableStyles.xml" Id="R4dc1c19ff01a4a96" /><Relationship Type="http://schemas.openxmlformats.org/officeDocument/2006/relationships/slide" Target="/ppt/slides/slide1.xml" Id="R230c88cf3d2b4aa8" /><Relationship Type="http://schemas.openxmlformats.org/officeDocument/2006/relationships/slide" Target="/ppt/slides/slide2.xml" Id="R824936cc3a0c4a2e" /><Relationship Type="http://schemas.openxmlformats.org/officeDocument/2006/relationships/slide" Target="/ppt/slides/slide3.xml" Id="R1d16ef66e2de4f68" /><Relationship Type="http://schemas.openxmlformats.org/officeDocument/2006/relationships/slide" Target="/ppt/slides/slide4.xml" Id="Rd83b73016b9b4ab7" /><Relationship Type="http://schemas.openxmlformats.org/officeDocument/2006/relationships/slide" Target="/ppt/slides/slide5.xml" Id="R0e2b52f4149c4ef7" /><Relationship Type="http://schemas.openxmlformats.org/officeDocument/2006/relationships/slide" Target="/ppt/slides/slide6.xml" Id="R08373d40db3941bd" /><Relationship Type="http://schemas.openxmlformats.org/officeDocument/2006/relationships/slide" Target="/ppt/slides/slide7.xml" Id="R2a27f4f209094b73" /><Relationship Type="http://schemas.openxmlformats.org/officeDocument/2006/relationships/slide" Target="/ppt/slides/slide8.xml" Id="R0566114fb0694b00" /><Relationship Type="http://schemas.openxmlformats.org/officeDocument/2006/relationships/slide" Target="/ppt/slides/slide9.xml" Id="Rb71c8a28a5fd4ba8" /><Relationship Type="http://schemas.openxmlformats.org/officeDocument/2006/relationships/slide" Target="/ppt/slides/slide10.xml" Id="Rb8614f53068b40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cc9af668c9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ec81153b84cb3" /><Relationship Type="http://schemas.openxmlformats.org/officeDocument/2006/relationships/notesMaster" Target="/ppt/notesMasters/notesMaster1.xml" Id="R85c74eb5be7747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4a27e8b0134979" /><Relationship Type="http://schemas.openxmlformats.org/officeDocument/2006/relationships/notesMaster" Target="/ppt/notesMasters/notesMaster1.xml" Id="R5daa8c061d2c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e105e9b579416b" /><Relationship Type="http://schemas.openxmlformats.org/officeDocument/2006/relationships/notesMaster" Target="/ppt/notesMasters/notesMaster1.xml" Id="R69b58ff0200941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e5d0b41df74b50" /><Relationship Type="http://schemas.openxmlformats.org/officeDocument/2006/relationships/notesMaster" Target="/ppt/notesMasters/notesMaster1.xml" Id="R4e9d90d8b67447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be228c808b43c7" /><Relationship Type="http://schemas.openxmlformats.org/officeDocument/2006/relationships/notesMaster" Target="/ppt/notesMasters/notesMaster1.xml" Id="Ra4f180e30a3d49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89b2a5e5fd4310" /><Relationship Type="http://schemas.openxmlformats.org/officeDocument/2006/relationships/notesMaster" Target="/ppt/notesMasters/notesMaster1.xml" Id="Raf56149f8b944c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52e7e5033f471c" /><Relationship Type="http://schemas.openxmlformats.org/officeDocument/2006/relationships/notesMaster" Target="/ppt/notesMasters/notesMaster1.xml" Id="R57c3d623ed644b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d8025893d9468e" /><Relationship Type="http://schemas.openxmlformats.org/officeDocument/2006/relationships/notesMaster" Target="/ppt/notesMasters/notesMaster1.xml" Id="R5abd8d366ee1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e9737223714856" /><Relationship Type="http://schemas.openxmlformats.org/officeDocument/2006/relationships/notesMaster" Target="/ppt/notesMasters/notesMaster1.xml" Id="R3fc9d385d5a44b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6ab4220ade4f16" /><Relationship Type="http://schemas.openxmlformats.org/officeDocument/2006/relationships/notesMaster" Target="/ppt/notesMasters/notesMaster1.xml" Id="Rc78e1c37eecf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lifecycle, not on a file format. Abada supports both new process creation and bounded BPMN import.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product documentation: docs/development/studio-app-spec.md</a:t>
            </a:r>
          </a:p>
          <a:p xmlns:a="http://schemas.openxmlformats.org/drawingml/2006/main">
            <a:r>
              <a:t>- Program: https://labs.google/aifuturesfund/africaailab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the operational gap around AI, not as a critique of BPMN or XML.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Runtime semantics: docs/reference/runtime-semantics.md</a:t>
            </a:r>
          </a:p>
          <a:p xmlns:a="http://schemas.openxmlformats.org/drawingml/2006/main">
            <a:r>
              <a:t>- Persistence model: docs/architecture/runtime-state.md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Import is one option in the first phase; it is not the product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Studio lifecycle: docs/development/studio-app-spec.md</a:t>
            </a:r>
          </a:p>
          <a:p xmlns:a="http://schemas.openxmlformats.org/drawingml/2006/main">
            <a:r>
              <a:t>- Insight lifecycle: docs/reference/insight-loop.md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real Studio capture to establish that Abada creates new processes and also supports import.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captures: submissions/google-africa-ai-lab-2026/assets/studio-lead-triage-canvas.png and studio-new-process.png</a:t>
            </a:r>
          </a:p>
          <a:p xmlns:a="http://schemas.openxmlformats.org/drawingml/2006/main">
            <a:r>
              <a:t>- Studio specification: docs/development/studio-app-spec.md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durable boundary. Do not claim exactly-once model execution or executable function-calling tools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worker contract: docs/reference/agent-worker.md</a:t>
            </a:r>
          </a:p>
          <a:p xmlns:a="http://schemas.openxmlformats.org/drawingml/2006/main">
            <a:r>
              <a:t>- External worker semantics: docs/reference/external-worker-protocol-v1.md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real local execution captured on 31 August 2026. Four genuine LOW lead-triage runs used Gemini 3.6 Flash, produced persisted execution facts and triggered the FALLBACK_THRASH finding. The LLM-generated proposal adds an explicit LOW decision rule. It remains in Draft and was not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Insight contract: docs/reference/insight-loop.md</a:t>
            </a:r>
          </a:p>
          <a:p xmlns:a="http://schemas.openxmlformats.org/drawingml/2006/main">
            <a:r>
              <a:t>- PostgreSQL integration evidence: engine/src/test/java/com/abada/engine/core/InsightLoopIntegrationTest.java</a:t>
            </a:r>
          </a:p>
          <a:p xmlns:a="http://schemas.openxmlformats.org/drawingml/2006/main">
            <a:r>
              <a:t>- Lead-triage demo definition: submissions/google-africa-ai-lab-2026/demo/lead-triage.apl.yaml</a:t>
            </a:r>
          </a:p>
          <a:p xmlns:a="http://schemas.openxmlformats.org/drawingml/2006/main">
            <a:r>
              <a:t>- Real execution capture: submissions/google-africa-ai-lab-2026/assets/studio-insight-real.png</a:t>
            </a:r>
          </a:p>
          <a:p xmlns:a="http://schemas.openxmlformats.org/drawingml/2006/main">
            <a:r>
              <a:t>- Model and execution date: Gemini 3.6 Flash · local execution ·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release and test count as evidence, not as market traction. External effects remain at-least-once.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Release gate: docs/development/1.0-rc.4-gate-report-2026-08-30.md</a:t>
            </a:r>
          </a:p>
          <a:p xmlns:a="http://schemas.openxmlformats.org/drawingml/2006/main">
            <a:r>
              <a:t>- Runtime state architecture: docs/architecture/runtime-state.md</a:t>
            </a:r>
          </a:p>
          <a:p xmlns:a="http://schemas.openxmlformats.org/drawingml/2006/main">
            <a:r>
              <a:t>- Release notes: docs/release-notes/1.0.0-rc.4-release-notes.md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as an adoption and interoperability feature. Do not make legacy modernization the hook.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BPMN support: docs/reference/bpmn-support.md</a:t>
            </a:r>
          </a:p>
          <a:p xmlns:a="http://schemas.openxmlformats.org/drawingml/2006/main">
            <a:r>
              <a:t>- Compatibility profiles: docs/bpmn/compatibility-profiles.md</a:t>
            </a:r>
          </a:p>
          <a:p xmlns:a="http://schemas.openxmlformats.org/drawingml/2006/main">
            <a:r>
              <a:t>- Round-trip gate: studio/scripts/kitchen-sink-roundtrip.mts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as target use cases. No market-size, customer-count or revenue claim is made.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positioning: README.md</a:t>
            </a:r>
          </a:p>
          <a:p xmlns:a="http://schemas.openxmlformats.org/drawingml/2006/main">
            <a:r>
              <a:t>- Deployment boundaries: docs/reference/deployment-support.md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concrete work the Lab can accelerate. Function calling, multimodal nodes and African-language evaluation are roadmap items, not current-product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Abada 1.1 roadmap: docs/development/roadmap-to-1.1.0-rc.md</a:t>
            </a:r>
          </a:p>
          <a:p xmlns:a="http://schemas.openxmlformats.org/drawingml/2006/main">
            <a:r>
              <a:t>- Program: https://labs.google/aifuturesfund/africaailab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f27da9d5a46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92ecdaa7b4cdd" /><Relationship Type="http://schemas.openxmlformats.org/officeDocument/2006/relationships/slideLayout" Target="/ppt/slideLayouts/slideLayout1.xml" Id="R7ae166f3420c4e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166f3420c4e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0c7125159424d" /><Relationship Type="http://schemas.openxmlformats.org/officeDocument/2006/relationships/notesSlide" Target="/ppt/notesSlides/notesSlide1.xml" Id="Rb969110c3cf74b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3b16ccd634319" /><Relationship Type="http://schemas.openxmlformats.org/officeDocument/2006/relationships/notesSlide" Target="/ppt/notesSlides/notesSlide2.xml" Id="Ra6210d2d964541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09dcddc1e4c0c" /><Relationship Type="http://schemas.openxmlformats.org/officeDocument/2006/relationships/notesSlide" Target="/ppt/notesSlides/notesSlide3.xml" Id="Rbfa3a1a5ddef48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040e8e63243af" /><Relationship Type="http://schemas.openxmlformats.org/officeDocument/2006/relationships/image" Target="/ppt/media/image.jpeg" Id="R9c105436aa904d4f" /><Relationship Type="http://schemas.openxmlformats.org/officeDocument/2006/relationships/image" Target="/ppt/media/image2.jpeg" Id="R20edc12e0f6c433f" /><Relationship Type="http://schemas.openxmlformats.org/officeDocument/2006/relationships/notesSlide" Target="/ppt/notesSlides/notesSlide4.xml" Id="R5ca2e4821b6343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43439b6a04bc3" /><Relationship Type="http://schemas.openxmlformats.org/officeDocument/2006/relationships/notesSlide" Target="/ppt/notesSlides/notesSlide5.xml" Id="R92b5cf5e2c7441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f1d71f2e7497e" /><Relationship Type="http://schemas.openxmlformats.org/officeDocument/2006/relationships/image" Target="/ppt/media/image3.jpeg" Id="R51257823fc684018" /><Relationship Type="http://schemas.openxmlformats.org/officeDocument/2006/relationships/notesSlide" Target="/ppt/notesSlides/notesSlide6.xml" Id="Ra25f89ae85784a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56b1118bf4c33" /><Relationship Type="http://schemas.openxmlformats.org/officeDocument/2006/relationships/notesSlide" Target="/ppt/notesSlides/notesSlide7.xml" Id="R993afa1e99ce4b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e6eb2e4cf4c44" /><Relationship Type="http://schemas.openxmlformats.org/officeDocument/2006/relationships/notesSlide" Target="/ppt/notesSlides/notesSlide8.xml" Id="R01a0f3dc60a14f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42e25180c4610" /><Relationship Type="http://schemas.openxmlformats.org/officeDocument/2006/relationships/notesSlide" Target="/ppt/notesSlides/notesSlide9.xml" Id="R46a74466f7cb45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26b0a6e0b4750" /><Relationship Type="http://schemas.openxmlformats.org/officeDocument/2006/relationships/notesSlide" Target="/ppt/notesSlides/notesSlide10.xml" Id="R2433e699a39444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F16F4-0DD7-467A-8E92-D7442CC2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E28D"/>
                </a:solidFill>
              </a:defRPr>
            </a:pPr>
            <a:r>
              <a:rPr sz="1200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0DE4C-243F-443F-A871-9FB867E4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24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>
              <a:alpha val="9412"/>
            </a:srgbClr>
          </a:solidFill>
          <a:ln xmlns:a="http://schemas.openxmlformats.org/drawingml/2006/main" w="9525">
            <a:solidFill>
              <a:srgbClr val="4C8DFF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AA3AD-9A27-4D43-86AB-CDB34496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8DFF"/>
                </a:solidFill>
              </a:defRPr>
            </a:pPr>
            <a:r>
              <a:rPr sz="975" b="1">
                <a:solidFill>
                  <a:srgbClr val="4C8DFF"/>
                </a:solidFill>
              </a:rPr>
              <a:t>OPEN SOURCE · SELF-HOSTED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B33B1-1EFA-418A-A22A-A83461C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3F6FA"/>
                </a:solidFill>
              </a:defRPr>
            </a:pPr>
            <a:r>
              <a:rPr sz="4050" b="1">
                <a:solidFill>
                  <a:srgbClr val="F3F6FA"/>
                </a:solidFill>
              </a:rPr>
              <a:t>Build processes that improve</a:t>
            </a:r>
          </a:p>
          <a:p xmlns:a="http://schemas.openxmlformats.org/drawingml/2006/main">
            <a:pPr algn="l">
              <a:defRPr sz="4050" b="1">
                <a:solidFill>
                  <a:srgbClr val="F3F6FA"/>
                </a:solidFill>
              </a:defRPr>
            </a:pPr>
            <a:r>
              <a:rPr sz="4050" b="1">
                <a:solidFill>
                  <a:srgbClr val="F3F6FA"/>
                </a:solidFill>
              </a:rPr>
              <a:t>with every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454D8-8D59-4E7F-B742-260146A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3A0B4"/>
                </a:solidFill>
              </a:defRPr>
            </a:pPr>
            <a:r>
              <a:rPr sz="1725" b="0">
                <a:solidFill>
                  <a:srgbClr val="93A0B4"/>
                </a:solidFill>
              </a:rPr>
              <a:t>Durable orchestration for AI agents, people and systems — with evidence-driven, human-governed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A7D61-D7AE-42CC-84F4-C70BA4B1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28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67714-A6E3-4C8E-B79E-C9D087B6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DFF"/>
                </a:solidFill>
              </a:defRPr>
            </a:pPr>
            <a:r>
              <a:rPr sz="1350" b="1">
                <a:solidFill>
                  <a:srgbClr val="4C8DFF"/>
                </a:solidFill>
              </a:rPr>
              <a:t>CREATE OR IMPORT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9B64E-D95E-41CF-A2C5-EA50EEF6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Design · AI · BPMN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267E0-FFF1-425C-A67B-A9D3F407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005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32B85-30C2-4BD9-83D0-F92F6DDA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28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415C1-3283-4C5C-817B-506FB290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957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5E28D"/>
                </a:solidFill>
              </a:defRPr>
            </a:pPr>
            <a:r>
              <a:rPr sz="1350" b="1">
                <a:solidFill>
                  <a:srgbClr val="45E28D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29948-5EF6-4791-BF0F-50B8025E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386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Agents · humans ·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0F749-A6A2-4884-A440-098E0BEE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005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33CD5-1F73-4191-9AF2-6359FE20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228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5A047-A066-46B4-90BE-F9AF9AB2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957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65D"/>
                </a:solidFill>
              </a:defRPr>
            </a:pPr>
            <a:r>
              <a:rPr sz="1350" b="1">
                <a:solidFill>
                  <a:srgbClr val="F7C65D"/>
                </a:solidFill>
              </a:rPr>
              <a:t>OBSERVE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45FD3-F208-435F-B894-288B16B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386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Facts · history · telemetry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43AA6-FD6D-4178-8FEB-80938EBA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D714D-3D35-42D8-B3EA-83F039F7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95750"/>
            <a:ext cx="228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1138B-F466-48A6-8882-1B5B3269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5E28D"/>
                </a:solidFill>
              </a:defRPr>
            </a:pPr>
            <a:r>
              <a:rPr sz="1350" b="1">
                <a:solidFill>
                  <a:srgbClr val="45E28D"/>
                </a:solidFill>
              </a:rPr>
              <a:t>IMPROVE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506BC-2E57-4F8B-85DC-88D59141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386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Validated proposals ·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B4F84-6F11-4959-818E-47720E5A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A"/>
                </a:solidFill>
              </a:defRPr>
            </a:pPr>
            <a:r>
              <a:rPr sz="1200" b="1">
                <a:solidFill>
                  <a:srgbClr val="F3F6FA"/>
                </a:solidFill>
              </a:rPr>
              <a:t>Patrick Bashizi · Democratic Republic of the Congo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E805D-BA77-45FC-9DFA-9AAE46CD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817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C8DFF"/>
                </a:solidFill>
              </a:defRPr>
            </a:pPr>
            <a:r>
              <a:rPr sz="1200" b="0">
                <a:solidFill>
                  <a:srgbClr val="4C8DFF"/>
                </a:solidFill>
              </a:rPr>
              <a:t>abadaplatform.com</a:t>
            </a:r>
          </a:p>
        </p:txBody>
      </p:sp>
    </p:spTree>
    <p:extLst>
      <p:ext uri="{BB962C8B-B14F-4D97-AF65-F5344CB8AC3E}">
        <p14:creationId xmlns:p14="http://schemas.microsoft.com/office/powerpoint/2010/main" val="2070782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FFB04-DCB2-4B99-BE3E-C129D86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0262E-4B48-4298-AB79-5E0CAC5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6FA"/>
                </a:solidFill>
              </a:defRPr>
            </a:pPr>
            <a:r>
              <a:rPr sz="2700" b="1">
                <a:solidFill>
                  <a:srgbClr val="F3F6FA"/>
                </a:solidFill>
              </a:rPr>
              <a:t>AI workflows need an operational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3E4FB-0E56-42A3-A681-BF424AE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F6AF1-8223-45FB-8411-207D6A9A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48F28-BF86-47BC-BA92-82E750F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Google Africa Applied AI Lab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3BF26-0690-4730-8BAB-964C63B4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abadaplatform.com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727F2-D7C3-4549-B9E6-D55346C5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3A0B4"/>
                </a:solidFill>
              </a:defRPr>
            </a:pPr>
            <a:r>
              <a:rPr sz="1875" b="0">
                <a:solidFill>
                  <a:srgbClr val="93A0B4"/>
                </a:solidFill>
              </a:rPr>
              <a:t>A model response takes seconds. A business process may run for days.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86F10-1690-4537-9EC2-A790D77C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38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14A8B-0AEE-46FF-8544-3468A9C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AF4C4-BD4F-4B61-A7D8-B6723F14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6FA"/>
                </a:solidFill>
              </a:defRPr>
            </a:pPr>
            <a:r>
              <a:rPr sz="1425" b="1">
                <a:solidFill>
                  <a:srgbClr val="F3F6FA"/>
                </a:solidFill>
              </a:rPr>
              <a:t>DURABLE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09B80-E410-4D04-AF41-4AFE576D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9080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Work must survive restarts and long waits.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A1EBA-0C5B-4D34-B7D0-43772057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38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3C938-2BF3-4769-94CB-75843CA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2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0DCA5-E84C-4BC1-BCCD-DAC9B646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528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6FA"/>
                </a:solidFill>
              </a:defRPr>
            </a:pPr>
            <a:r>
              <a:rPr sz="1425" b="1">
                <a:solidFill>
                  <a:srgbClr val="F3F6FA"/>
                </a:solidFill>
              </a:rPr>
              <a:t>DETERMINISTIC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3AFD2-999E-4CA4-8E5D-93864048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718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Decisions and retries cannot depend on model improvisation.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BB954-3CAB-4CE8-85D0-1D6F8210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38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017BA-1D37-4C55-9EF3-3D3A6DF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51753-6CEC-45D8-B179-BA5E9E00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3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6FA"/>
                </a:solidFill>
              </a:defRPr>
            </a:pPr>
            <a:r>
              <a:rPr sz="1425" b="1">
                <a:solidFill>
                  <a:srgbClr val="F3F6FA"/>
                </a:solidFill>
              </a:rPr>
              <a:t>HUMAN 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007F4-C7D4-4433-812F-021CE6A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5290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People must own approvals, exceptions and change adoption.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E7D42-39E8-491B-A8B7-6FDDF0E0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38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F1FAC-58C5-4BB9-AEDA-2B3024D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186DD-F58A-423B-B17B-4585B0F3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149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6FA"/>
                </a:solidFill>
              </a:defRPr>
            </a:pPr>
            <a:r>
              <a:rPr sz="1425" b="1">
                <a:solidFill>
                  <a:srgbClr val="F3F6FA"/>
                </a:solidFill>
              </a:rPr>
              <a:t>OPERATIONAL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A855D-D36A-4CAA-B00D-1DBB4FC2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33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Attempts, latency, failures and outcomes must remain observable.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58411-2A10-4678-8824-97E7220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A"/>
                </a:solidFill>
              </a:defRPr>
            </a:pPr>
            <a:r>
              <a:rPr sz="1575" b="1">
                <a:solidFill>
                  <a:srgbClr val="F3F6FA"/>
                </a:solidFill>
              </a:rPr>
              <a:t>Abada connects these requirements in one governed lifecycle.</a:t>
            </a:r>
          </a:p>
        </p:txBody>
      </p:sp>
    </p:spTree>
    <p:extLst>
      <p:ext uri="{BB962C8B-B14F-4D97-AF65-F5344CB8AC3E}">
        <p14:creationId xmlns:p14="http://schemas.microsoft.com/office/powerpoint/2010/main" val="317791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830ABA-1614-467E-A729-602930B9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7EE34-6647-427E-84C5-E9C10A5D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6FA"/>
                </a:solidFill>
              </a:defRPr>
            </a:pPr>
            <a:r>
              <a:rPr sz="2700" b="1">
                <a:solidFill>
                  <a:srgbClr val="F3F6FA"/>
                </a:solidFill>
              </a:rPr>
              <a:t>One platform for the full process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E4C2F-4FA1-4322-9990-4ACA264D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ECEF2-E438-4610-9CFA-41E51940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3A53D-99C3-4C8D-9CAF-553262A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Google Africa Applied AI Lab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2549E-EA13-4E06-9B46-9F0A705D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abadaplatform.com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66872-D172-4C7F-8796-23C1F624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C4BF3-A591-4264-891B-C8BE4ED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247900" cy="22860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EA855-8D2D-44AB-900A-53DDF343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DFF"/>
                </a:solidFill>
              </a:defRPr>
            </a:pPr>
            <a:r>
              <a:rPr sz="1350" b="1">
                <a:solidFill>
                  <a:srgbClr val="4C8D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1D645-FD44-4DCB-B02F-350BCAB6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F6FA"/>
                </a:solidFill>
              </a:defRPr>
            </a:pPr>
            <a:r>
              <a:rPr sz="1500" b="1">
                <a:solidFill>
                  <a:srgbClr val="F3F6FA"/>
                </a:solidFill>
              </a:rPr>
              <a:t>CREATE OR IMPORT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12F92-CE76-49BF-A931-D7D3CAB1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F1302-9124-4FF3-BBFB-7079181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Visual Studio</a:t>
            </a:r>
          </a:p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AI authoring</a:t>
            </a:r>
          </a:p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APL or supported BPMN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FEED7-E6F0-4BDF-BEAE-B8E85292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068B9-93D9-434E-A690-81680568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247900" cy="22860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CDAC0-4A58-422B-AAEF-F1D23BB6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E28D"/>
                </a:solidFill>
              </a:defRPr>
            </a:pPr>
            <a:r>
              <a:rPr sz="1350" b="1">
                <a:solidFill>
                  <a:srgbClr val="45E28D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8B6DD-D3FD-4092-AF0B-7F99732D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F6FA"/>
                </a:solidFill>
              </a:defRPr>
            </a:pPr>
            <a:r>
              <a:rPr sz="1500" b="1">
                <a:solidFill>
                  <a:srgbClr val="F3F6FA"/>
                </a:solidFill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36211-0523-4FAD-A72B-3979CDE5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909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2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9DEE8-2C0F-4E1A-A915-96C13A06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Gemini agents</a:t>
            </a:r>
          </a:p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Human work</a:t>
            </a:r>
          </a:p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Systems +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0B99A-2468-4926-B402-5FD5194E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F1749-20EC-40D8-A99F-59398C66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5050"/>
            <a:ext cx="2247900" cy="22860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F7C6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9FFE3-B76E-451F-8190-16EC45FF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65D"/>
                </a:solidFill>
              </a:defRPr>
            </a:pPr>
            <a:r>
              <a:rPr sz="1350" b="1">
                <a:solidFill>
                  <a:srgbClr val="F7C65D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5C409-BCDE-42BD-AE4F-FA1407C6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F6FA"/>
                </a:solidFill>
              </a:defRPr>
            </a:pPr>
            <a:r>
              <a:rPr sz="1500" b="1">
                <a:solidFill>
                  <a:srgbClr val="F3F6FA"/>
                </a:solidFill>
              </a:rPr>
              <a:t>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C993A-7D2C-4B2E-998D-AE2BD14C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81C51-3762-42E4-A911-32F15806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Execution history</a:t>
            </a:r>
          </a:p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Attempts + latency</a:t>
            </a:r>
          </a:p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Failures +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D4062-2B32-4076-B0A5-4A40DE3D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2247900" cy="22860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B4724-8B41-40A1-B9DB-0A39A7D3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E28D"/>
                </a:solidFill>
              </a:defRPr>
            </a:pPr>
            <a:r>
              <a:rPr sz="1350" b="1">
                <a:solidFill>
                  <a:srgbClr val="45E28D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15CFA4-E834-4AAE-B6E8-9EBDB236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F6FA"/>
                </a:solidFill>
              </a:defRPr>
            </a:pPr>
            <a:r>
              <a:rPr sz="1500" b="1">
                <a:solidFill>
                  <a:srgbClr val="F3F6FA"/>
                </a:solidFill>
              </a:rPr>
              <a:t>IMPROVE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CF1B0B-3E67-488B-8EFA-6016FE08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909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2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707CE-A634-4E40-9C63-D42C2ECF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576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Findings</a:t>
            </a:r>
          </a:p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Validated proposal</a:t>
            </a:r>
          </a:p>
          <a:p xmlns:a="http://schemas.openxmlformats.org/drawingml/2006/main">
            <a:pPr algn="ctr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Governed adoption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5E7F08-6665-42B7-96F3-B4389CBD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DFF"/>
                </a:solidFill>
              </a:defRPr>
            </a:pPr>
            <a:r>
              <a:rPr sz="1350" b="1">
                <a:solidFill>
                  <a:srgbClr val="4C8DFF"/>
                </a:solidFill>
              </a:rPr>
              <a:t>Studio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E9FFDF-21D5-4C40-9A76-3F8821C6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5E28D"/>
                </a:solidFill>
              </a:defRPr>
            </a:pPr>
            <a:r>
              <a:rPr sz="1350" b="1">
                <a:solidFill>
                  <a:srgbClr val="45E28D"/>
                </a:solidFill>
              </a:rPr>
              <a:t>Engine + 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D8FEA5-6D44-400B-944B-00CA16D8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65D"/>
                </a:solidFill>
              </a:defRPr>
            </a:pPr>
            <a:r>
              <a:rPr sz="1350" b="1">
                <a:solidFill>
                  <a:srgbClr val="F7C65D"/>
                </a:solidFill>
              </a:rPr>
              <a:t>Durable facts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7EE81-1FF1-4BE8-A058-8E930804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5E28D"/>
                </a:solidFill>
              </a:defRPr>
            </a:pPr>
            <a:r>
              <a:rPr sz="1350" b="1">
                <a:solidFill>
                  <a:srgbClr val="45E28D"/>
                </a:solidFill>
              </a:rPr>
              <a:t>Insight Engine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A1757E-4B7D-4DCE-A059-5FDBED04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6FA"/>
                </a:solidFill>
              </a:defRPr>
            </a:pPr>
            <a:r>
              <a:rPr sz="1650" b="1">
                <a:solidFill>
                  <a:srgbClr val="F3F6FA"/>
                </a:solidFill>
              </a:rPr>
              <a:t>Every participant advances the same versioned process state.</a:t>
            </a:r>
          </a:p>
        </p:txBody>
      </p:sp>
    </p:spTree>
    <p:extLst>
      <p:ext uri="{BB962C8B-B14F-4D97-AF65-F5344CB8AC3E}">
        <p14:creationId xmlns:p14="http://schemas.microsoft.com/office/powerpoint/2010/main" val="1130252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62850-7A0C-40C6-8458-69EDE51F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EBCE5-0244-4239-8172-2BD5E225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6FA"/>
                </a:solidFill>
              </a:defRPr>
            </a:pPr>
            <a:r>
              <a:rPr sz="2700" b="1">
                <a:solidFill>
                  <a:srgbClr val="F3F6FA"/>
                </a:solidFill>
              </a:rPr>
              <a:t>Create intelligent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ED584-3258-4D54-8677-E15A7F82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2A094-7986-4A8B-9C52-44DB7F29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88CB5-3FF9-4E2B-B328-F5DC45D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Google Africa Applied AI Lab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9406F-3E83-4145-B80A-CAF6D528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abadaplatform.com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05436aa904d4f"/>
          <a:srcRect xmlns:a="http://schemas.openxmlformats.org/drawingml/2006/main" l="1337" t="0" r="1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70866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dc12e0f6c433f"/>
          <a:srcRect xmlns:a="http://schemas.openxmlformats.org/drawingml/2006/main" l="0" t="850" r="0" b="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3886200"/>
            <a:ext cx="3238500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59A22-6E4D-4876-85AC-C2F5F881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5E28D">
              <a:alpha val="9412"/>
            </a:srgbClr>
          </a:solidFill>
          <a:ln xmlns:a="http://schemas.openxmlformats.org/drawingml/2006/main" w="9525">
            <a:solidFill>
              <a:srgbClr val="45E28D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2FD1A-88B3-4127-8B06-1B6FA648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REAL STUDIO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B6436-0434-44AA-937B-4ECB0CAB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A"/>
                </a:solidFill>
              </a:defRPr>
            </a:pPr>
            <a:r>
              <a:rPr sz="1875" b="1">
                <a:solidFill>
                  <a:srgbClr val="F3F6FA"/>
                </a:solidFill>
              </a:rPr>
              <a:t>Multiple entry points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7D182-124C-4F28-8384-E7FD0C38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DFF"/>
                </a:solidFill>
              </a:defRPr>
            </a:pPr>
            <a:r>
              <a:rPr sz="1275" b="1">
                <a:solidFill>
                  <a:srgbClr val="4C8DFF"/>
                </a:solidFill>
              </a:rPr>
              <a:t>Visual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5A921-49AB-4E93-B2E3-E9D0BFEC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52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0B4"/>
                </a:solidFill>
              </a:defRPr>
            </a:pPr>
            <a:r>
              <a:rPr sz="1050" b="0">
                <a:solidFill>
                  <a:srgbClr val="93A0B4"/>
                </a:solidFill>
              </a:rPr>
              <a:t>Start from a blank canvas.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EB543-7FF2-4426-B52F-B375C208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DFF"/>
                </a:solidFill>
              </a:defRPr>
            </a:pPr>
            <a:r>
              <a:rPr sz="1275" b="1">
                <a:solidFill>
                  <a:srgbClr val="4C8DFF"/>
                </a:solidFill>
              </a:rPr>
              <a:t>AI-assisted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E6C18-5A45-4CD3-A391-E15CCA57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0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0B4"/>
                </a:solidFill>
              </a:defRPr>
            </a:pPr>
            <a:r>
              <a:rPr sz="1050" b="0">
                <a:solidFill>
                  <a:srgbClr val="93A0B4"/>
                </a:solidFill>
              </a:rPr>
              <a:t>Describe a process in plain language.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1A3DB-BCBC-46D8-B57B-4C9EBF2E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DFF"/>
                </a:solidFill>
              </a:defRPr>
            </a:pPr>
            <a:r>
              <a:rPr sz="1275" b="1">
                <a:solidFill>
                  <a:srgbClr val="4C8DFF"/>
                </a:solidFill>
              </a:rPr>
              <a:t>Native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B9127-9082-4361-BA0F-80D8CFF4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48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0B4"/>
                </a:solidFill>
              </a:defRPr>
            </a:pPr>
            <a:r>
              <a:rPr sz="1050" b="0">
                <a:solidFill>
                  <a:srgbClr val="93A0B4"/>
                </a:solidFill>
              </a:rPr>
              <a:t>Author or paste reviewable APL.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1A204-8A90-454D-B5F4-1854F8DC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C65D"/>
                </a:solidFill>
              </a:defRPr>
            </a:pPr>
            <a:r>
              <a:rPr sz="1275" b="1">
                <a:solidFill>
                  <a:srgbClr val="F7C65D"/>
                </a:solidFill>
              </a:rPr>
              <a:t>Interoperable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7E1A4-CB09-4775-AE99-FDA362E3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95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0B4"/>
                </a:solidFill>
              </a:defRPr>
            </a:pPr>
            <a:r>
              <a:rPr sz="1050" b="0">
                <a:solidFill>
                  <a:srgbClr val="93A0B4"/>
                </a:solidFill>
              </a:rPr>
              <a:t>Import the supported BPMN subset.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6EEE0-C12C-44CE-BD62-65930416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86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DFF"/>
                </a:solidFill>
              </a:defRPr>
            </a:pPr>
            <a:r>
              <a:rPr sz="1275" b="1">
                <a:solidFill>
                  <a:srgbClr val="4C8DFF"/>
                </a:solidFill>
              </a:rPr>
              <a:t>Safe to explore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AB060-B94B-4921-ADEC-21D733D8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435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0B4"/>
                </a:solidFill>
              </a:defRPr>
            </a:pPr>
            <a:r>
              <a:rPr sz="1050" b="0">
                <a:solidFill>
                  <a:srgbClr val="93A0B4"/>
                </a:solidFill>
              </a:rPr>
              <a:t>Dry Run stays local and mocked.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7C5F9-5BE4-44FD-BAFD-BD0A5A5B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38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E28D"/>
                </a:solidFill>
              </a:defRPr>
            </a:pPr>
            <a:r>
              <a:rPr sz="1200" b="1">
                <a:solidFill>
                  <a:srgbClr val="45E28D"/>
                </a:solidFill>
              </a:rPr>
              <a:t>APL is the native representation beneath Studio — not the whole product story.</a:t>
            </a:r>
          </a:p>
        </p:txBody>
      </p:sp>
    </p:spTree>
    <p:extLst>
      <p:ext uri="{BB962C8B-B14F-4D97-AF65-F5344CB8AC3E}">
        <p14:creationId xmlns:p14="http://schemas.microsoft.com/office/powerpoint/2010/main" val="15194037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91D00-68CE-4CC9-8A7C-053F5C1C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E646F-DA02-4834-93C9-41769FB0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6FA"/>
                </a:solidFill>
              </a:defRPr>
            </a:pPr>
            <a:r>
              <a:rPr sz="2700" b="1">
                <a:solidFill>
                  <a:srgbClr val="F3F6FA"/>
                </a:solidFill>
              </a:rPr>
              <a:t>Gemini becomes a governed workflow participant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FC1A0-295C-4CC5-8EE7-CE9644A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E3A9C-9E52-498A-8925-B1CA76CE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6C166-F7EB-4BE6-8E67-77574EB6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Google Africa Applied AI Lab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63CD9-C0C2-41E9-9E5A-ED8F01C7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abadaplatform.com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8E0FD-9B22-447B-BA88-61CB53E5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3A0B4"/>
                </a:solidFill>
              </a:defRPr>
            </a:pPr>
            <a:r>
              <a:rPr sz="1575" b="0">
                <a:solidFill>
                  <a:srgbClr val="93A0B4"/>
                </a:solidFill>
              </a:rPr>
              <a:t>The model call is outside the workflow transaction. Its accepted result re-enters through the durable worker contract.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FF5D1-E2A5-43F0-8CE4-EA109522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992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077D0-43B7-4101-B379-0D254B43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133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09FA8-04BC-427B-AF46-3488537F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DFF"/>
                </a:solidFill>
              </a:defRPr>
            </a:pPr>
            <a:r>
              <a:rPr sz="1425" b="1">
                <a:solidFill>
                  <a:srgbClr val="4C8DFF"/>
                </a:solidFill>
              </a:rPr>
              <a:t>STUDIO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A6CF7-B701-4452-8A23-D5FC3A44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Model · prompt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output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E123C-4A18-4A69-B74C-FFB35E7C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0992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35791-20F4-4211-8503-88F05D06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2133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3213A-6034-4D6C-A849-5484BF9E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5E28D"/>
                </a:solidFill>
              </a:defRPr>
            </a:pPr>
            <a:r>
              <a:rPr sz="1425" b="1">
                <a:solidFill>
                  <a:srgbClr val="45E28D"/>
                </a:solidFill>
              </a:rPr>
              <a:t>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2397F-850C-40CF-B1AF-A65555B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1470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Durable agent work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PostgreSQL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5F793-1B3C-413C-AB30-3416EB22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51CC4-8843-451E-8D19-FBE44C8C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2133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ED0B8-0F62-4D04-AB2F-88D60963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DFF"/>
                </a:solidFill>
              </a:defRPr>
            </a:pPr>
            <a:r>
              <a:rPr sz="1425" b="1">
                <a:solidFill>
                  <a:srgbClr val="4C8DFF"/>
                </a:solidFill>
              </a:rPr>
              <a:t>AGENT 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B7E01-777D-453B-840E-AEE355C1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Bounded timeout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validation · retry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CE9F2-EF92-401D-8615-E22966A1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2133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9BC0B-CDE6-4597-93E7-F7148924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5E28D"/>
                </a:solidFill>
              </a:defRPr>
            </a:pPr>
            <a:r>
              <a:rPr sz="1425" b="1">
                <a:solidFill>
                  <a:srgbClr val="45E28D"/>
                </a:solidFill>
              </a:rPr>
              <a:t>GEMINI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73327-83C9-4109-83C7-9AA547C6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Structured result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C0DE8-AF8C-48DD-B229-655A1743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8191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21B28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20D5E-DDFD-47AC-BDE1-74F0D6CB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76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A"/>
                </a:solidFill>
              </a:defRPr>
            </a:pPr>
            <a:r>
              <a:rPr sz="1350" b="1">
                <a:solidFill>
                  <a:srgbClr val="F3F6FA"/>
                </a:solidFill>
              </a:rPr>
              <a:t>Persisted attempt 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AD8AF-4C61-4D88-A9DE-75B75DC8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387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resolved model · provider · attempt · duration · confidence · tools · error type · prompt hash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5400D0-A8EC-473C-97BA-53A39EE1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291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C65D">
              <a:alpha val="9412"/>
            </a:srgbClr>
          </a:solidFill>
          <a:ln xmlns:a="http://schemas.openxmlformats.org/drawingml/2006/main" w="9525">
            <a:solidFill>
              <a:srgbClr val="F7C65D">
                <a:alpha val="4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11ECCB-48D2-4995-A64A-0E4B4D0B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C65D"/>
                </a:solidFill>
              </a:defRPr>
            </a:pPr>
            <a:r>
              <a:rPr sz="975" b="1">
                <a:solidFill>
                  <a:srgbClr val="F7C65D"/>
                </a:solidFill>
              </a:rPr>
              <a:t>AT-LEAST-ONCE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48BBE-B1EF-4D46-ABCA-5E573B7F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5E28D"/>
                </a:solidFill>
              </a:defRPr>
            </a:pPr>
            <a:r>
              <a:rPr sz="1575" b="1">
                <a:solidFill>
                  <a:srgbClr val="45E28D"/>
                </a:solidFill>
              </a:rPr>
              <a:t>Validated output drives deterministic routing to a person or system.</a:t>
            </a:r>
          </a:p>
        </p:txBody>
      </p:sp>
    </p:spTree>
    <p:extLst>
      <p:ext uri="{BB962C8B-B14F-4D97-AF65-F5344CB8AC3E}">
        <p14:creationId xmlns:p14="http://schemas.microsoft.com/office/powerpoint/2010/main" val="408731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D49B4-4962-4440-8BDD-4A779B4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97F0A-1DEE-440A-AB0D-5E0C378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6FA"/>
                </a:solidFill>
              </a:defRPr>
            </a:pPr>
            <a:r>
              <a:rPr sz="2700" b="1">
                <a:solidFill>
                  <a:srgbClr val="F3F6FA"/>
                </a:solidFill>
              </a:rPr>
              <a:t>Insight turns evidence into governed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480CE-CABD-447A-BAD9-CFBF943D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3970F-B951-4989-ADAF-DEFD6FD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43304-F666-4673-8E19-EA59FB2C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Google Africa Applied AI Lab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7AAC0-1094-42AA-9C35-A57FCFA4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abadaplatform.com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5DDAF-BE84-4E8F-8F34-86D7FDAE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2882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3D0BF-C696-4FE3-8CC9-9C7821FA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C38A4-D5F7-4DEE-B55E-1E707D5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C8DFF"/>
                </a:solidFill>
              </a:defRPr>
            </a:pPr>
            <a:r>
              <a:rPr sz="1125" b="1">
                <a:solidFill>
                  <a:srgbClr val="4C8DFF"/>
                </a:solidFill>
              </a:rPr>
              <a:t>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6E4E5-9F41-48B9-A3C0-21FAE3D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2F0CE-97C4-4D39-8D06-3386DD0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F7C6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C77AA-47AB-42D0-91E9-D58C8CD2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81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C65D"/>
                </a:solidFill>
              </a:defRPr>
            </a:pPr>
            <a:r>
              <a:rPr sz="1125" b="1">
                <a:solidFill>
                  <a:srgbClr val="F7C65D"/>
                </a:solidFill>
              </a:rPr>
              <a:t>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C4C4D-A6DB-47F6-95A6-7B9A1C7D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2882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C1E57-1A96-4EEF-B3BF-01B917F0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20DDC-793D-47D4-9F6E-0302815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5E28D"/>
                </a:solidFill>
              </a:defRPr>
            </a:pPr>
            <a:r>
              <a:rPr sz="1125" b="1">
                <a:solidFill>
                  <a:srgbClr val="45E28D"/>
                </a:solidFill>
              </a:rPr>
              <a:t>VALIDATED PROPOSAL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24851-0DB5-4C31-A27A-4C34EB23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28825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98C86-DD8A-4779-B8A4-5369D426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011A8-6FEB-49F4-8370-D329FCDF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81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C8DFF"/>
                </a:solidFill>
              </a:defRPr>
            </a:pPr>
            <a:r>
              <a:rPr sz="1125" b="1">
                <a:solidFill>
                  <a:srgbClr val="4C8DFF"/>
                </a:solidFill>
              </a:rPr>
              <a:t>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D67A9-1650-4859-AF61-983DB4C9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5260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913B0-4F26-4260-9B0A-8B7ABC88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81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5E28D"/>
                </a:solidFill>
              </a:defRPr>
            </a:pPr>
            <a:r>
              <a:rPr sz="1125" b="1">
                <a:solidFill>
                  <a:srgbClr val="45E28D"/>
                </a:solidFill>
              </a:rPr>
              <a:t>NEW VERSION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57823fc684018"/>
          <a:srcRect xmlns:a="http://schemas.openxmlformats.org/drawingml/2006/main" l="0" t="16136" r="0" b="16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857500"/>
            <a:ext cx="7867650" cy="30099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32E2B-5F75-437C-A720-B6DF669B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95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5E28D">
              <a:alpha val="9412"/>
            </a:srgbClr>
          </a:solidFill>
          <a:ln xmlns:a="http://schemas.openxmlformats.org/drawingml/2006/main" w="9525">
            <a:solidFill>
              <a:srgbClr val="45E28D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5D14C-1671-4085-9707-DD05E2F1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REAL LOCAL EXECUTION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89E37-E45C-4770-879E-EA13D26E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2762250" cy="300990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F1C19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59E30-4DF6-4699-855E-241F2740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A"/>
                </a:solidFill>
              </a:defRPr>
            </a:pPr>
            <a:r>
              <a:rPr sz="1650" b="1">
                <a:solidFill>
                  <a:srgbClr val="F3F6FA"/>
                </a:solidFill>
              </a:rPr>
              <a:t>Gemini 3.6 Flash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855D5-7B2D-4327-A3F1-04F0136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052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2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AE3AA-E0DE-4F9E-8DC9-B4730865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5E28D"/>
                </a:solidFill>
              </a:defRPr>
            </a:pPr>
            <a:r>
              <a:rPr sz="3000" b="1">
                <a:solidFill>
                  <a:srgbClr val="45E28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4AB31-854D-440E-847C-5DA1ACDB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576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A0B4"/>
                </a:solidFill>
              </a:defRPr>
            </a:pPr>
            <a:r>
              <a:rPr sz="1200" b="1">
                <a:solidFill>
                  <a:srgbClr val="93A0B4"/>
                </a:solidFill>
              </a:rPr>
              <a:t>persisted LOW runs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E3F77-0F0E-4281-B577-A4B90449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65D"/>
                </a:solidFill>
              </a:defRPr>
            </a:pPr>
            <a:r>
              <a:rPr sz="1350" b="1">
                <a:solidFill>
                  <a:srgbClr val="F7C65D"/>
                </a:solidFill>
              </a:rPr>
              <a:t>FALLBACK_THRASH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B1A97A-D405-4643-B927-0C1C6237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81550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The LLM proposed an explicit LOW rule. The definition remains unchanged until a person approves it.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6B453-0738-4073-8C70-23F4E583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467350"/>
            <a:ext cx="1504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>
              <a:alpha val="9412"/>
            </a:srgbClr>
          </a:solidFill>
          <a:ln xmlns:a="http://schemas.openxmlformats.org/drawingml/2006/main" w="9525">
            <a:solidFill>
              <a:srgbClr val="4C8DFF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210295-7AF8-4FEC-AA78-17D7F131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4864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8DFF"/>
                </a:solidFill>
              </a:defRPr>
            </a:pPr>
            <a:r>
              <a:rPr sz="975" b="1">
                <a:solidFill>
                  <a:srgbClr val="4C8DFF"/>
                </a:solidFill>
              </a:rPr>
              <a:t>NOT APPROVED</a:t>
            </a:r>
          </a:p>
        </p:txBody>
      </p:sp>
    </p:spTree>
    <p:extLst>
      <p:ext uri="{BB962C8B-B14F-4D97-AF65-F5344CB8AC3E}">
        <p14:creationId xmlns:p14="http://schemas.microsoft.com/office/powerpoint/2010/main" val="300077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7D02EE-08B1-47AE-BEC8-DF6512C2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7A156-8805-4BE7-AD6E-8553A99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6FA"/>
                </a:solidFill>
              </a:defRPr>
            </a:pPr>
            <a:r>
              <a:rPr sz="2700" b="1">
                <a:solidFill>
                  <a:srgbClr val="F3F6FA"/>
                </a:solidFill>
              </a:rPr>
              <a:t>Reliable and accountable by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C98C9-7C46-4B5F-BBAB-7ADB8954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B1392-5705-4731-965E-949E08D4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5FB54-8EAF-4719-A88C-446790B4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Google Africa Applied AI Lab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D7F07-03D5-4B06-A696-1A1D4F92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abadaplatform.com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F1938-17BA-4EB6-A632-891F0960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5E28D"/>
                </a:solidFill>
              </a:defRPr>
            </a:pPr>
            <a:r>
              <a:rPr sz="3750" b="1">
                <a:solidFill>
                  <a:srgbClr val="45E28D"/>
                </a:solidFill>
              </a:rPr>
              <a:t>1.0.0-rc.4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F095A-AEB5-4D92-B545-D43220B1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3A0B4"/>
                </a:solidFill>
              </a:defRPr>
            </a:pPr>
            <a:r>
              <a:rPr sz="1425" b="0">
                <a:solidFill>
                  <a:srgbClr val="93A0B4"/>
                </a:solidFill>
              </a:rPr>
              <a:t>Published evaluation release candidate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48B9C-B19A-432C-B86F-4ECE45BC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4C8DFF"/>
                </a:solidFill>
              </a:defRPr>
            </a:pPr>
            <a:r>
              <a:rPr sz="3750" b="1">
                <a:solidFill>
                  <a:srgbClr val="4C8DFF"/>
                </a:solidFill>
              </a:rPr>
              <a:t>323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782DA-D4A9-43E2-BAD7-87E30CB2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3A0B4"/>
                </a:solidFill>
              </a:defRPr>
            </a:pPr>
            <a:r>
              <a:rPr sz="1350" b="0">
                <a:solidFill>
                  <a:srgbClr val="93A0B4"/>
                </a:solidFill>
              </a:rPr>
              <a:t>tests passed in the recorded release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0AB7E-3614-4E7C-A269-79FE445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04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7ED65-20CC-45CF-85CD-DA9233BF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2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60F7D-72EB-440E-87D2-2FE5088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A"/>
                </a:solidFill>
              </a:defRPr>
            </a:pPr>
            <a:r>
              <a:rPr sz="1650" b="1">
                <a:solidFill>
                  <a:srgbClr val="F3F6FA"/>
                </a:solidFill>
              </a:rPr>
              <a:t>PostgreSQL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0E48B-A78E-4521-A530-9E852905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Mutable process state is database-authoritative.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B67DA-6E25-4FE4-809F-08CF474B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67100"/>
            <a:ext cx="904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5E28D">
              <a:alpha val="9412"/>
            </a:srgbClr>
          </a:solidFill>
          <a:ln xmlns:a="http://schemas.openxmlformats.org/drawingml/2006/main" w="9525">
            <a:solidFill>
              <a:srgbClr val="45E28D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CE7A6-C46C-493B-A30F-BB2A6CE6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861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799D5-D6FB-479C-8235-C0CAA90E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C871C-83EF-4355-8AE9-672FBE9F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147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E02FB-9E19-4557-A47F-E3875DCD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A"/>
                </a:solidFill>
              </a:defRPr>
            </a:pPr>
            <a:r>
              <a:rPr sz="1650" b="1">
                <a:solidFill>
                  <a:srgbClr val="F3F6FA"/>
                </a:solidFill>
              </a:rPr>
              <a:t>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90B82-E309-4F22-9DBF-57F9C490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Leases, retries and restart-safe acquisition.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DAD7E-D51C-499D-862B-32F45D75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467100"/>
            <a:ext cx="904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>
              <a:alpha val="9412"/>
            </a:srgbClr>
          </a:solidFill>
          <a:ln xmlns:a="http://schemas.openxmlformats.org/drawingml/2006/main" w="9525">
            <a:solidFill>
              <a:srgbClr val="4C8DFF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F5B40-85C6-4970-9EAF-65079AC0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4861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8DFF"/>
                </a:solidFill>
              </a:defRPr>
            </a:pPr>
            <a:r>
              <a:rPr sz="975" b="1">
                <a:solidFill>
                  <a:srgbClr val="4C8DFF"/>
                </a:solidFill>
              </a:rPr>
              <a:t>IMPLEMENTED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8F958-ED7E-447F-BA5F-F8862537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04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11F11-0B44-4C98-A64A-CABC690A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2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FE2A8-DC8A-4CBF-A127-FCB1857E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A"/>
                </a:solidFill>
              </a:defRPr>
            </a:pPr>
            <a:r>
              <a:rPr sz="1650" b="1">
                <a:solidFill>
                  <a:srgbClr val="F3F6FA"/>
                </a:solidFill>
              </a:rPr>
              <a:t>Atomicity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64FD6-F093-460F-B3E1-D27FA2E5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State, work, history and outbox commit together.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9D13F-D2EF-48A3-B7D9-5531274B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86300"/>
            <a:ext cx="904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5E28D">
              <a:alpha val="9412"/>
            </a:srgbClr>
          </a:solidFill>
          <a:ln xmlns:a="http://schemas.openxmlformats.org/drawingml/2006/main" w="9525">
            <a:solidFill>
              <a:srgbClr val="45E28D">
                <a:alpha val="4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FC1F5A-BFCF-471E-BCBD-D8B3EB55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053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IMPLEMENTED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844B0-8529-43B3-8BED-599A8F93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52950"/>
            <a:ext cx="504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21502E-DF01-469C-92D8-D37C7F08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339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73D570-F389-4194-921C-0E876AA3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76800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A"/>
                </a:solidFill>
              </a:defRPr>
            </a:pPr>
            <a:r>
              <a:rPr sz="1650" b="1">
                <a:solidFill>
                  <a:srgbClr val="F3F6FA"/>
                </a:solidFill>
              </a:rPr>
              <a:t>Governance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A1947C-1AB2-446A-AC6B-E6F8218A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387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Backend RBAC, audit and immutable versions.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0A567-F782-4B3F-A53A-8F2E922A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686300"/>
            <a:ext cx="904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>
              <a:alpha val="9412"/>
            </a:srgbClr>
          </a:solidFill>
          <a:ln xmlns:a="http://schemas.openxmlformats.org/drawingml/2006/main" w="9525">
            <a:solidFill>
              <a:srgbClr val="4C8DFF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ED1FED-62B3-436A-9F50-E1DEEC0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7053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8DFF"/>
                </a:solidFill>
              </a:defRPr>
            </a:pPr>
            <a:r>
              <a:rPr sz="975" b="1">
                <a:solidFill>
                  <a:srgbClr val="4C8DFF"/>
                </a:solidFill>
              </a:rPr>
              <a:t>IMPLEMENTED</a:t>
            </a:r>
          </a:p>
        </p:txBody>
      </p:sp>
    </p:spTree>
    <p:extLst>
      <p:ext uri="{BB962C8B-B14F-4D97-AF65-F5344CB8AC3E}">
        <p14:creationId xmlns:p14="http://schemas.microsoft.com/office/powerpoint/2010/main" val="1803442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377F85-C417-4257-BF3C-6022F9B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10BB4-FFBA-4CBC-8F78-45E08AD7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6FA"/>
                </a:solidFill>
              </a:defRPr>
            </a:pPr>
            <a:r>
              <a:rPr sz="2700" b="1">
                <a:solidFill>
                  <a:srgbClr val="F3F6FA"/>
                </a:solidFill>
              </a:rPr>
              <a:t>Create natively. Import when needed.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2EE86-7378-4CF5-A10E-377C30AB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A1DD4-D284-4AC4-9E17-97C01496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41EA2-05B7-447F-B04A-FDAE5BE9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Google Africa Applied AI Lab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B23AB-F2F0-440A-A533-20384B1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abadaplatform.com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A8291-100A-4DA7-8D9A-7827816A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3A0B4"/>
                </a:solidFill>
              </a:defRPr>
            </a:pPr>
            <a:r>
              <a:rPr sz="1650" b="0">
                <a:solidFill>
                  <a:srgbClr val="93A0B4"/>
                </a:solidFill>
              </a:rPr>
              <a:t>Interoperate across new processes and existing investments through an explicit compatibility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BADC0-FEE5-4DAB-AD26-7C29417C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5752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2D7DE-CA48-43A5-9DA7-6C46325C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33380-4366-444D-9D4D-22500195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DFF"/>
                </a:solidFill>
              </a:defRPr>
            </a:pPr>
            <a:r>
              <a:rPr sz="1425" b="1">
                <a:solidFill>
                  <a:srgbClr val="4C8DFF"/>
                </a:solidFill>
              </a:rPr>
              <a:t>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9DDB7-5A7A-4DBC-B30B-7729B217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Visual Studio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AI authoring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APL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04943-16BD-45B8-9568-6AC23C8F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8B9EC-5CF2-47A0-B1CA-5C832F0F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F7C6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CB838-0890-4E0C-AD59-7062A762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574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C65D"/>
                </a:solidFill>
              </a:defRPr>
            </a:pPr>
            <a:r>
              <a:rPr sz="1425" b="1">
                <a:solidFill>
                  <a:srgbClr val="F7C65D"/>
                </a:solidFill>
              </a:rPr>
              <a:t>IMPORT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6C0BA-2E14-484E-81C3-2CDDB4C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718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Supported BPMN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compatibility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15801-D0B2-4463-A273-36D22862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5752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C5FD4"/>
          </a:solidFill>
          <a:ln xmlns:a="http://schemas.openxmlformats.org/drawingml/2006/main" w="0">
            <a:solidFill>
              <a:srgbClr val="1C5F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A5E37-5026-45CC-88B7-D6BE5986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3840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BA109-D8CD-4D58-B317-4D4F0D92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574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5E28D"/>
                </a:solidFill>
              </a:defRPr>
            </a:pPr>
            <a:r>
              <a:rPr sz="1425" b="1">
                <a:solidFill>
                  <a:srgbClr val="45E28D"/>
                </a:solidFill>
              </a:rPr>
              <a:t>EXECUTE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95F03-4264-44B2-B11E-2DDA5C12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718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One canonical graph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one durable 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A6A9C-289F-4B84-9972-58FA7930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E4F7E-28C7-4715-904A-56F5E28F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574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DFF"/>
                </a:solidFill>
              </a:defRPr>
            </a:pPr>
            <a:r>
              <a:rPr sz="1425" b="1">
                <a:solidFill>
                  <a:srgbClr val="4C8DFF"/>
                </a:solidFill>
              </a:rPr>
              <a:t>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AD513-6A3C-4DD5-9E7B-DD19535C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71825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Supported round-trip</a:t>
            </a:r>
          </a:p>
          <a:p xmlns:a="http://schemas.openxmlformats.org/drawingml/2006/main">
            <a:pPr algn="ctr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for interoperability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D9C89-CAAC-4632-972D-A8115281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382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21B28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56A6C-8FC4-4283-A343-C9A3270F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C65D">
              <a:alpha val="9412"/>
            </a:srgbClr>
          </a:solidFill>
          <a:ln xmlns:a="http://schemas.openxmlformats.org/drawingml/2006/main" w="9525">
            <a:solidFill>
              <a:srgbClr val="F7C65D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FF2EA-D054-4017-B067-DC222366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C65D"/>
                </a:solidFill>
              </a:defRPr>
            </a:pPr>
            <a:r>
              <a:rPr sz="975" b="1">
                <a:solidFill>
                  <a:srgbClr val="F7C65D"/>
                </a:solidFill>
              </a:rPr>
              <a:t>LIMITED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2BFD1A-D785-4C37-8EEB-4D00378B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577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A"/>
                </a:solidFill>
              </a:defRPr>
            </a:pPr>
            <a:r>
              <a:rPr sz="1350" b="1">
                <a:solidFill>
                  <a:srgbClr val="F3F6FA"/>
                </a:solidFill>
              </a:rPr>
              <a:t>Standard BPMN 2.0 · Abada-native extensions · documented Camunda 7 profile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BB1A2-9A71-49B4-B61A-9D6DCE1A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Unsupported execution semantics fail explicitly. Abada does not claim full BPMN coverage.</a:t>
            </a:r>
          </a:p>
        </p:txBody>
      </p:sp>
    </p:spTree>
    <p:extLst>
      <p:ext uri="{BB962C8B-B14F-4D97-AF65-F5344CB8AC3E}">
        <p14:creationId xmlns:p14="http://schemas.microsoft.com/office/powerpoint/2010/main" val="304312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5DAF2B-232A-4239-BF67-B27D9E16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E28D"/>
                </a:solidFill>
              </a:defRPr>
            </a:pPr>
            <a:r>
              <a:rPr sz="975" b="1">
                <a:solidFill>
                  <a:srgbClr val="45E28D"/>
                </a:solidFill>
              </a:rPr>
              <a:t>ABADA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D486C-B5A0-4E53-9887-C27ACECE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6FA"/>
                </a:solidFill>
              </a:defRPr>
            </a:pPr>
            <a:r>
              <a:rPr sz="2700" b="1">
                <a:solidFill>
                  <a:srgbClr val="F3F6FA"/>
                </a:solidFill>
              </a:rPr>
              <a:t>Built for high-stakes operations in Africa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B248E-2E13-4881-9678-4988EE27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0B4"/>
                </a:solidFill>
              </a:defRPr>
            </a:pPr>
            <a:r>
              <a:rPr sz="975" b="0">
                <a:solidFill>
                  <a:srgbClr val="93A0B4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EA45B-5DF4-434E-9AB5-D334FDD9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D41A4-52D3-4CBF-A6B0-9EC92530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Google Africa Applied AI Lab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0208F-0747-438F-AF2A-23538C29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C"/>
                </a:solidFill>
              </a:defRPr>
            </a:pPr>
            <a:r>
              <a:rPr sz="825" b="0">
                <a:solidFill>
                  <a:srgbClr val="66758C"/>
                </a:solidFill>
              </a:rPr>
              <a:t>abadaplatform.com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34537-118F-4E30-986B-C4B440C9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048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13045-D691-4498-90F6-3BA7742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DFF"/>
                </a:solidFill>
              </a:defRPr>
            </a:pPr>
            <a:r>
              <a:rPr sz="1350" b="1">
                <a:solidFill>
                  <a:srgbClr val="4C8DFF"/>
                </a:solidFill>
              </a:rPr>
              <a:t>BANKING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80322-D773-443D-B890-54D4E54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KYC · credit exceptions</a:t>
            </a:r>
          </a:p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fraud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ECD00-E848-4A8B-BB6F-B21BBE57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43100"/>
            <a:ext cx="3048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5E2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09D12-F4DB-4325-B32C-00FFF94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33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E28D"/>
                </a:solidFill>
              </a:defRPr>
            </a:pPr>
            <a:r>
              <a:rPr sz="1350" b="1">
                <a:solidFill>
                  <a:srgbClr val="45E28D"/>
                </a:solidFill>
              </a:rPr>
              <a:t>TELECOM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2D811-667C-4E00-90DC-A2CD0423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2412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Onboarding · incidents</a:t>
            </a:r>
          </a:p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escalation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7F6D3-B219-499F-B468-BB0C6F1B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F7C6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AC4F2-E55F-4703-8AB1-39063A4E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65D"/>
                </a:solidFill>
              </a:defRPr>
            </a:pPr>
            <a:r>
              <a:rPr sz="1350" b="1">
                <a:solidFill>
                  <a:srgbClr val="F7C65D"/>
                </a:solidFill>
              </a:rPr>
              <a:t>AGRITECH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0390D-F965-4E8B-A248-51C45D15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Producer cases · documents</a:t>
            </a:r>
          </a:p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field-data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AD44A-B553-42ED-80AE-44F79954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48050"/>
            <a:ext cx="3048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620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0EDAC-86F5-4FD1-8ACD-B040E26C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DFF"/>
                </a:solidFill>
              </a:defRPr>
            </a:pPr>
            <a:r>
              <a:rPr sz="1350" b="1">
                <a:solidFill>
                  <a:srgbClr val="4C8DFF"/>
                </a:solidFill>
              </a:rPr>
              <a:t>GOVTECH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A04EC-B5B4-4E38-93DE-DAD1531D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29075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Citizen requests</a:t>
            </a:r>
          </a:p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auditable approvals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83550-68EF-4582-8233-3A6713C3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43100"/>
            <a:ext cx="35433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21B28"/>
          </a:solidFill>
          <a:ln xmlns:a="http://schemas.openxmlformats.org/drawingml/2006/main" w="9525">
            <a:solidFill>
              <a:srgbClr val="2632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29FBA-F913-4B0E-AFB0-59B9C42B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A"/>
                </a:solidFill>
              </a:defRPr>
            </a:pPr>
            <a:r>
              <a:rPr sz="1800" b="1">
                <a:solidFill>
                  <a:srgbClr val="F3F6FA"/>
                </a:solidFill>
              </a:rPr>
              <a:t>Commercial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2E5F4-183A-4155-8358-BF27296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2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B7481-55A8-4EEF-A2EA-9E8E3204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E28D"/>
                </a:solidFill>
              </a:defRPr>
            </a:pPr>
            <a:r>
              <a:rPr sz="1050" b="1">
                <a:solidFill>
                  <a:srgbClr val="45E28D"/>
                </a:solidFill>
              </a:rPr>
              <a:t>NOW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4FF7D-0E04-429E-80BF-95687BC6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24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6FA"/>
                </a:solidFill>
              </a:defRPr>
            </a:pPr>
            <a:r>
              <a:rPr sz="1425" b="1">
                <a:solidFill>
                  <a:srgbClr val="F3F6FA"/>
                </a:solidFill>
              </a:rPr>
              <a:t>Open-source 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971B8-CDE9-4EE3-A770-62E29FEB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8DFF"/>
                </a:solidFill>
              </a:defRPr>
            </a:pPr>
            <a:r>
              <a:rPr sz="1050" b="1">
                <a:solidFill>
                  <a:srgbClr val="4C8DFF"/>
                </a:solidFill>
              </a:rPr>
              <a:t>FUTURE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44CC6-A444-4A73-B0DF-8D4FA67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6FA"/>
                </a:solidFill>
              </a:defRPr>
            </a:pPr>
            <a:r>
              <a:rPr sz="1425" b="1">
                <a:solidFill>
                  <a:srgbClr val="F3F6FA"/>
                </a:solidFill>
              </a:rPr>
              <a:t>Managed hosting</a:t>
            </a:r>
          </a:p>
          <a:p xmlns:a="http://schemas.openxmlformats.org/drawingml/2006/main">
            <a:pPr algn="l">
              <a:defRPr sz="1425" b="1">
                <a:solidFill>
                  <a:srgbClr val="F3F6FA"/>
                </a:solidFill>
              </a:defRPr>
            </a:pPr>
            <a:r>
              <a:rPr sz="1425" b="1">
                <a:solidFill>
                  <a:srgbClr val="F3F6FA"/>
                </a:solidFill>
              </a:rPr>
              <a:t>Enterprise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F5B01-7726-416E-9ECE-0351CFF4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672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0B4"/>
                </a:solidFill>
              </a:defRPr>
            </a:pPr>
            <a:r>
              <a:rPr sz="1125" b="0">
                <a:solidFill>
                  <a:srgbClr val="93A0B4"/>
                </a:solidFill>
              </a:rPr>
              <a:t>Self-hosting keeps deployment and data-location choices with the operator.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93AD50-8D14-44A0-A9C3-74846B70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3A0B4"/>
                </a:solidFill>
              </a:defRPr>
            </a:pPr>
            <a:r>
              <a:rPr sz="1425" b="0">
                <a:solidFill>
                  <a:srgbClr val="93A0B4"/>
                </a:solidFill>
              </a:rPr>
              <a:t>Target use cases — not customer traction or invented market size.</a:t>
            </a:r>
          </a:p>
        </p:txBody>
      </p:sp>
    </p:spTree>
    <p:extLst>
      <p:ext uri="{BB962C8B-B14F-4D97-AF65-F5344CB8AC3E}">
        <p14:creationId xmlns:p14="http://schemas.microsoft.com/office/powerpoint/2010/main" val="7298180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22B44-0C64-4911-A991-80BA8F53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E28D"/>
                </a:solidFill>
              </a:defRPr>
            </a:pPr>
            <a:r>
              <a:rPr sz="1125" b="1">
                <a:solidFill>
                  <a:srgbClr val="45E28D"/>
                </a:solidFill>
              </a:rPr>
              <a:t>WHY GOOGLE AFRICA APPLIED AI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C635A-8803-455C-B65C-BBA0325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3F6FA"/>
                </a:solidFill>
              </a:defRPr>
            </a:pPr>
            <a:r>
              <a:rPr sz="3600" b="1">
                <a:solidFill>
                  <a:srgbClr val="F3F6FA"/>
                </a:solidFill>
              </a:rPr>
              <a:t>Turn Gemini capabilities into</a:t>
            </a:r>
          </a:p>
          <a:p xmlns:a="http://schemas.openxmlformats.org/drawingml/2006/main">
            <a:pPr algn="l">
              <a:defRPr sz="3600" b="1">
                <a:solidFill>
                  <a:srgbClr val="F3F6FA"/>
                </a:solidFill>
              </a:defRPr>
            </a:pPr>
            <a:r>
              <a:rPr sz="3600" b="1">
                <a:solidFill>
                  <a:srgbClr val="F3F6FA"/>
                </a:solidFill>
              </a:rPr>
              <a:t>reliable workflow primitives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E5E20-72EA-4BBC-B187-67E72E4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3A0B4"/>
                </a:solidFill>
              </a:defRPr>
            </a:pPr>
            <a:r>
              <a:rPr sz="1725" b="0">
                <a:solidFill>
                  <a:srgbClr val="93A0B4"/>
                </a:solidFill>
              </a:rPr>
              <a:t>Three-month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8A65B-5A69-41DA-8979-72E8EF54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DFF"/>
                </a:solidFill>
              </a:defRPr>
            </a:pPr>
            <a:r>
              <a:rPr sz="1350" b="1">
                <a:solidFill>
                  <a:srgbClr val="4C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03655-6A70-42E9-8FC4-EA50CB7C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A"/>
                </a:solidFill>
              </a:defRPr>
            </a:pPr>
            <a:r>
              <a:rPr sz="1500" b="1">
                <a:solidFill>
                  <a:srgbClr val="F3F6FA"/>
                </a:solidFill>
              </a:rPr>
              <a:t>Governed function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AF6C0-19CF-4DE8-A80D-5A4A0E2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432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Structured external actions with operator-controlled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3835C-7274-4BF8-9066-10CC5084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FDED1-9444-4CBE-BB19-1166FC9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DFF"/>
                </a:solidFill>
              </a:defRPr>
            </a:pPr>
            <a:r>
              <a:rPr sz="1350" b="1">
                <a:solidFill>
                  <a:srgbClr val="4C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CC765-D10D-4AB1-B244-44BBACE9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A"/>
                </a:solidFill>
              </a:defRPr>
            </a:pPr>
            <a:r>
              <a:rPr sz="1500" b="1">
                <a:solidFill>
                  <a:srgbClr val="F3F6FA"/>
                </a:solidFill>
              </a:rPr>
              <a:t>Multimodal agent nodes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74704-A77B-4D02-B4E3-D4A6D1D9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243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Document and image understanding inside durable processes.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9E1F6-190F-4D73-9E51-0C621FF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43445-4ECF-423B-8503-B9FD2758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DFF"/>
                </a:solidFill>
              </a:defRPr>
            </a:pPr>
            <a:r>
              <a:rPr sz="1350" b="1">
                <a:solidFill>
                  <a:srgbClr val="4C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158C8-87CD-47A3-8334-05B24A70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6FA"/>
                </a:solidFill>
              </a:defRPr>
            </a:pPr>
            <a:r>
              <a:rPr sz="1500" b="1">
                <a:solidFill>
                  <a:srgbClr val="F3F6FA"/>
                </a:solidFill>
              </a:rPr>
              <a:t>African-language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73D17-9700-4ACA-9C3F-F6C07E3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053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Measure and improve process interactions across local languages.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4DFF3-BB5E-45F7-BCE5-568B9A3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84BD3-FAC1-45ED-AD67-62AA1387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A"/>
                </a:solidFill>
              </a:defRPr>
            </a:pPr>
            <a:r>
              <a:rPr sz="1575" b="1">
                <a:solidFill>
                  <a:srgbClr val="F3F6FA"/>
                </a:solidFill>
              </a:rPr>
              <a:t>Patrick Bashizi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61D78-DEC9-42B8-94A5-E5BEF246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198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0B4"/>
                </a:solidFill>
              </a:defRPr>
            </a:pPr>
            <a:r>
              <a:rPr sz="1200" b="0">
                <a:solidFill>
                  <a:srgbClr val="93A0B4"/>
                </a:solidFill>
              </a:rPr>
              <a:t>Founder · Democratic Republic of the Congo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2306D-A65E-4072-A9F8-3B261D35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198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C8DFF"/>
                </a:solidFill>
              </a:defRPr>
            </a:pPr>
            <a:r>
              <a:rPr sz="1200" b="0">
                <a:solidFill>
                  <a:srgbClr val="4C8DFF"/>
                </a:solidFill>
              </a:rPr>
              <a:t>bashizip@gmail.com · abadaplatform.com</a:t>
            </a:r>
          </a:p>
        </p:txBody>
      </p:sp>
    </p:spTree>
    <p:extLst>
      <p:ext uri="{BB962C8B-B14F-4D97-AF65-F5344CB8AC3E}">
        <p14:creationId xmlns:p14="http://schemas.microsoft.com/office/powerpoint/2010/main" val="1530810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2026-08-31T20:42:49.0170000Z</dcterms:created>
  <dcterms:modified xsi:type="dcterms:W3CDTF">2026-08-31T20:42:49.0170000Z</dcterms:modified>
</coreProperties>
</file>